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6"/>
  </p:notesMasterIdLst>
  <p:handoutMasterIdLst>
    <p:handoutMasterId r:id="rId17"/>
  </p:handoutMasterIdLst>
  <p:sldIdLst>
    <p:sldId id="256" r:id="rId5"/>
    <p:sldId id="292" r:id="rId6"/>
    <p:sldId id="297" r:id="rId7"/>
    <p:sldId id="266" r:id="rId8"/>
    <p:sldId id="295" r:id="rId9"/>
    <p:sldId id="298" r:id="rId10"/>
    <p:sldId id="283" r:id="rId11"/>
    <p:sldId id="264" r:id="rId12"/>
    <p:sldId id="293" r:id="rId13"/>
    <p:sldId id="287" r:id="rId14"/>
    <p:sldId id="29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 showGuides="1">
      <p:cViewPr>
        <p:scale>
          <a:sx n="70" d="100"/>
          <a:sy n="70" d="100"/>
        </p:scale>
        <p:origin x="1166" y="326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279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85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33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2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22" r:id="rId2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806246"/>
            <a:ext cx="11265407" cy="2163096"/>
          </a:xfrm>
        </p:spPr>
        <p:txBody>
          <a:bodyPr/>
          <a:lstStyle/>
          <a:p>
            <a:r>
              <a:rPr lang="en-IN" sz="3600" b="1" dirty="0">
                <a:solidFill>
                  <a:srgbClr val="0070C0"/>
                </a:solidFill>
              </a:rPr>
              <a:t>Healthcare Performance Dashboard</a:t>
            </a:r>
            <a:br>
              <a:rPr lang="en-IN" dirty="0"/>
            </a:b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Patient, Clinical, Doctor Performance &amp; Financial Analytics</a:t>
            </a:r>
            <a:br>
              <a:rPr lang="en-IN" sz="160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IN" sz="160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IN" sz="1600" dirty="0"/>
            </a:br>
            <a:br>
              <a:rPr lang="en-IN" sz="1600" dirty="0"/>
            </a:br>
            <a:r>
              <a:rPr lang="en-IN" sz="1600" b="1" dirty="0"/>
              <a:t>Presented by:</a:t>
            </a:r>
            <a:r>
              <a:rPr lang="en-IN" sz="1600" dirty="0"/>
              <a:t> Anurag Kumar Poddar</a:t>
            </a:r>
            <a:br>
              <a:rPr lang="en-IN" sz="1600" dirty="0"/>
            </a:br>
            <a:r>
              <a:rPr lang="en-IN" sz="1600" b="1" dirty="0"/>
              <a:t>Role:</a:t>
            </a:r>
            <a:r>
              <a:rPr lang="en-IN" sz="1600" dirty="0"/>
              <a:t> Data Analyst / Business Analyst</a:t>
            </a:r>
            <a:br>
              <a:rPr lang="en-IN" sz="1600" dirty="0"/>
            </a:br>
            <a:r>
              <a:rPr lang="en-IN" sz="1600" b="1" dirty="0"/>
              <a:t>Project Type:</a:t>
            </a:r>
            <a:r>
              <a:rPr lang="en-IN" sz="1600" dirty="0"/>
              <a:t> Microsoft Power BI Portfolio Project</a:t>
            </a:r>
            <a:endParaRPr lang="en-US" sz="1600" dirty="0"/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/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40080"/>
            <a:ext cx="3657600" cy="1059614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Project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1" y="1699694"/>
            <a:ext cx="3657600" cy="4691962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What is this project?</a:t>
            </a:r>
            <a:endParaRPr lang="en-IN" dirty="0"/>
          </a:p>
          <a:p>
            <a:pPr lvl="0"/>
            <a:r>
              <a:rPr lang="en-IN" dirty="0"/>
              <a:t>An interactive Microsoft Power BI dashboard designed for healthcare analytics.</a:t>
            </a:r>
          </a:p>
          <a:p>
            <a:pPr lvl="0"/>
            <a:r>
              <a:rPr lang="en-IN" dirty="0"/>
              <a:t>It provides a single, consolidated view of patient activity, clinical patterns, doctor performance, billing, and insurance data.</a:t>
            </a:r>
          </a:p>
          <a:p>
            <a:r>
              <a:rPr lang="en-IN" b="1" dirty="0"/>
              <a:t>Key Purpose:</a:t>
            </a:r>
            <a:endParaRPr lang="en-IN" dirty="0"/>
          </a:p>
          <a:p>
            <a:pPr lvl="0"/>
            <a:r>
              <a:rPr lang="en-IN" dirty="0"/>
              <a:t>Converts raw patient-level data into a visual management tool.</a:t>
            </a:r>
          </a:p>
          <a:p>
            <a:pPr lvl="0"/>
            <a:r>
              <a:rPr lang="en-IN" dirty="0"/>
              <a:t>Helps users identify patterns, compare performance, and support data-driven decisions.</a:t>
            </a:r>
          </a:p>
          <a:p>
            <a:r>
              <a:rPr lang="en-IN" b="1" dirty="0"/>
              <a:t>Design:</a:t>
            </a:r>
            <a:endParaRPr lang="en-IN" dirty="0"/>
          </a:p>
          <a:p>
            <a:pPr lvl="0"/>
            <a:r>
              <a:rPr lang="en-IN" dirty="0"/>
              <a:t>A single-page report with interactive filtering.</a:t>
            </a:r>
          </a:p>
          <a:p>
            <a:pPr lvl="0"/>
            <a:r>
              <a:rPr lang="en-IN" dirty="0"/>
              <a:t>Users can explore data by patient and admission date range.</a:t>
            </a:r>
          </a:p>
          <a:p>
            <a:endParaRPr lang="en-US" dirty="0"/>
          </a:p>
        </p:txBody>
      </p:sp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" r="148"/>
          <a:stretch/>
        </p:blipFill>
        <p:spPr/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419E-CAF9-A762-FA5C-096632365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1759319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Business Problem &amp; Purpose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C71BE-1871-4ECD-FC68-AC03A7887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2" y="1903197"/>
            <a:ext cx="4511038" cy="4635255"/>
          </a:xfrm>
        </p:spPr>
        <p:txBody>
          <a:bodyPr/>
          <a:lstStyle/>
          <a:p>
            <a:r>
              <a:rPr lang="en-IN" sz="1600" b="1" dirty="0"/>
              <a:t>The Problem:</a:t>
            </a:r>
            <a:endParaRPr lang="en-IN" sz="1600" dirty="0"/>
          </a:p>
          <a:p>
            <a:pPr lvl="0"/>
            <a:r>
              <a:rPr lang="en-IN" sz="1400" dirty="0"/>
              <a:t>Healthcare data contains vast information (admissions, diagnoses, billing, etc.).</a:t>
            </a:r>
          </a:p>
          <a:p>
            <a:pPr lvl="0"/>
            <a:r>
              <a:rPr lang="en-IN" sz="1400" dirty="0"/>
              <a:t>Reviewing raw tables makes it difficult to quickly identify important patterns or trends.</a:t>
            </a:r>
          </a:p>
          <a:p>
            <a:pPr lvl="0"/>
            <a:endParaRPr lang="en-IN" sz="1400" dirty="0"/>
          </a:p>
          <a:p>
            <a:r>
              <a:rPr lang="en-IN" sz="1600" b="1" dirty="0"/>
              <a:t>The Solution:</a:t>
            </a:r>
            <a:endParaRPr lang="en-IN" sz="1600" dirty="0"/>
          </a:p>
          <a:p>
            <a:pPr lvl="0"/>
            <a:r>
              <a:rPr lang="en-IN" sz="1400" dirty="0"/>
              <a:t>A visual analytics layer that helps users:</a:t>
            </a:r>
          </a:p>
          <a:p>
            <a:pPr lvl="1" algn="l"/>
            <a:r>
              <a:rPr lang="en-IN" sz="1400" dirty="0"/>
              <a:t>-Monitor key patient and financial indicators from one dashboard.</a:t>
            </a:r>
          </a:p>
          <a:p>
            <a:pPr lvl="1" algn="l"/>
            <a:r>
              <a:rPr lang="en-IN" sz="1400" dirty="0"/>
              <a:t>-Understand patient distribution across bed categories.</a:t>
            </a:r>
          </a:p>
          <a:p>
            <a:pPr lvl="1" algn="l"/>
            <a:r>
              <a:rPr lang="en-IN" sz="1400" dirty="0"/>
              <a:t>-Compare doctor-level revenue, insurance, and feedback.</a:t>
            </a:r>
          </a:p>
          <a:p>
            <a:pPr lvl="1" algn="l"/>
            <a:r>
              <a:rPr lang="en-IN" sz="1400" dirty="0"/>
              <a:t>-Identify high-volume diagnoses and compare billed vs.  insured amounts.</a:t>
            </a:r>
          </a:p>
          <a:p>
            <a:endParaRPr lang="en-IN" sz="10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72F85E8-EA80-142C-9DE6-6689D831B1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>
            <a:fillRect/>
          </a:stretch>
        </p:blipFill>
        <p:spPr>
          <a:xfrm>
            <a:off x="4947920" y="629920"/>
            <a:ext cx="6807198" cy="5908532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rgbClr val="E6C46D"/>
          </a:solidFill>
        </p:spPr>
      </p:pic>
    </p:spTree>
    <p:extLst>
      <p:ext uri="{BB962C8B-B14F-4D97-AF65-F5344CB8AC3E}">
        <p14:creationId xmlns:p14="http://schemas.microsoft.com/office/powerpoint/2010/main" val="246586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68E91FE-1E96-9012-B0A7-9E9605A1D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3429000"/>
            <a:ext cx="11292839" cy="3119284"/>
          </a:xfrm>
        </p:spPr>
        <p:txBody>
          <a:bodyPr>
            <a:noAutofit/>
          </a:bodyPr>
          <a:lstStyle/>
          <a:p>
            <a:pPr algn="l"/>
            <a:r>
              <a:rPr lang="en-IN" sz="1600" b="1" dirty="0">
                <a:solidFill>
                  <a:srgbClr val="0070C0"/>
                </a:solidFill>
              </a:rPr>
              <a:t>Project Objectives</a:t>
            </a:r>
            <a:br>
              <a:rPr lang="en-IN" sz="1600" b="1" dirty="0">
                <a:solidFill>
                  <a:srgbClr val="0070C0"/>
                </a:solidFill>
              </a:rPr>
            </a:br>
            <a:r>
              <a:rPr lang="en-IN" sz="1600" b="1" dirty="0">
                <a:solidFill>
                  <a:srgbClr val="0070C0"/>
                </a:solidFill>
              </a:rPr>
              <a:t>Main Goals:</a:t>
            </a:r>
            <a:br>
              <a:rPr lang="en-IN" sz="1600" b="1" dirty="0"/>
            </a:br>
            <a:br>
              <a:rPr lang="en-IN" sz="1600" dirty="0"/>
            </a:br>
            <a:r>
              <a:rPr lang="en-IN" sz="1600" dirty="0"/>
              <a:t>-   Build an interactive healthcare analytics dashboard using Power BI.</a:t>
            </a:r>
            <a:br>
              <a:rPr lang="en-IN" sz="1600" dirty="0"/>
            </a:br>
            <a:r>
              <a:rPr lang="en-IN" sz="1600" dirty="0"/>
              <a:t>-   Transform patient-level data into clear KPIs and business-friendly visualizations.</a:t>
            </a:r>
            <a:br>
              <a:rPr lang="en-IN" sz="1600" dirty="0"/>
            </a:br>
            <a:r>
              <a:rPr lang="en-IN" sz="1600" dirty="0"/>
              <a:t>-   Provide visibility into patient activity and important dates.</a:t>
            </a:r>
            <a:br>
              <a:rPr lang="en-IN" sz="1600" dirty="0"/>
            </a:br>
            <a:r>
              <a:rPr lang="en-IN" sz="1600" dirty="0"/>
              <a:t>-   </a:t>
            </a:r>
            <a:r>
              <a:rPr lang="en-IN" sz="1600" dirty="0" err="1"/>
              <a:t>Analyze</a:t>
            </a:r>
            <a:r>
              <a:rPr lang="en-IN" sz="1600" dirty="0"/>
              <a:t> diagnosis and bed-category distribution.</a:t>
            </a:r>
            <a:br>
              <a:rPr lang="en-IN" sz="1600" dirty="0"/>
            </a:br>
            <a:r>
              <a:rPr lang="en-IN" sz="1600" dirty="0"/>
              <a:t>-   Evaluate doctor-level operational, feedback, and financial performance.</a:t>
            </a:r>
            <a:br>
              <a:rPr lang="en-IN" sz="1600" dirty="0"/>
            </a:br>
            <a:r>
              <a:rPr lang="en-IN" sz="1600" dirty="0"/>
              <a:t>-   Compare billing and health insurance amounts by diagnostic test.</a:t>
            </a:r>
            <a:br>
              <a:rPr lang="en-IN" sz="1600" dirty="0"/>
            </a:br>
            <a:r>
              <a:rPr lang="en-IN" sz="1600" dirty="0"/>
              <a:t>-   Create a portfolio-quality dashboard demonstrating practical Power BI skills.</a:t>
            </a:r>
            <a:br>
              <a:rPr lang="en-IN" sz="1100" dirty="0"/>
            </a:br>
            <a:endParaRPr lang="en-US" sz="1100" dirty="0"/>
          </a:p>
        </p:txBody>
      </p:sp>
      <p:pic>
        <p:nvPicPr>
          <p:cNvPr id="19" name="Picture Placeholder 18" descr="A close-up of a person wearing scrubs">
            <a:extLst>
              <a:ext uri="{FF2B5EF4-FFF2-40B4-BE49-F238E27FC236}">
                <a16:creationId xmlns:a16="http://schemas.microsoft.com/office/drawing/2014/main" id="{B92D438B-6D57-86B9-0B77-0CC42EC18FF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63" b="163"/>
          <a:stretch/>
        </p:blipFill>
        <p:spPr>
          <a:xfrm>
            <a:off x="449580" y="705104"/>
            <a:ext cx="11292840" cy="2723896"/>
          </a:xfrm>
        </p:spPr>
      </p:pic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1852023"/>
          </a:xfrm>
        </p:spPr>
        <p:txBody>
          <a:bodyPr/>
          <a:lstStyle/>
          <a:p>
            <a:r>
              <a:rPr lang="en-IN" b="1" dirty="0"/>
              <a:t>Data &amp; Preparation Approach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82E89-DB15-6D26-7098-DA9792B0B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286" y="2001548"/>
            <a:ext cx="4626428" cy="1764910"/>
          </a:xfrm>
        </p:spPr>
        <p:txBody>
          <a:bodyPr/>
          <a:lstStyle/>
          <a:p>
            <a:r>
              <a:rPr lang="en-IN" b="1" dirty="0"/>
              <a:t>Data Used:</a:t>
            </a:r>
            <a:endParaRPr lang="en-IN" dirty="0"/>
          </a:p>
          <a:p>
            <a:pPr lvl="0"/>
            <a:r>
              <a:rPr lang="en-IN" dirty="0"/>
              <a:t>A structured patient-level healthcare dataset.</a:t>
            </a:r>
          </a:p>
          <a:p>
            <a:pPr lvl="0"/>
            <a:r>
              <a:rPr lang="en-IN" dirty="0"/>
              <a:t>Key fields include: </a:t>
            </a:r>
            <a:r>
              <a:rPr lang="en-IN" dirty="0" err="1"/>
              <a:t>Patient_ID</a:t>
            </a:r>
            <a:r>
              <a:rPr lang="en-IN" dirty="0"/>
              <a:t>, </a:t>
            </a:r>
            <a:r>
              <a:rPr lang="en-IN" dirty="0" err="1"/>
              <a:t>Admit_Date</a:t>
            </a:r>
            <a:r>
              <a:rPr lang="en-IN" dirty="0"/>
              <a:t>, </a:t>
            </a:r>
            <a:r>
              <a:rPr lang="en-IN" dirty="0" err="1"/>
              <a:t>Discharge_Date</a:t>
            </a:r>
            <a:r>
              <a:rPr lang="en-IN" dirty="0"/>
              <a:t>, Diagnosis, Test, </a:t>
            </a:r>
            <a:r>
              <a:rPr lang="en-IN" dirty="0" err="1"/>
              <a:t>Bed_Occupancy</a:t>
            </a:r>
            <a:r>
              <a:rPr lang="en-IN" dirty="0"/>
              <a:t>, Doctor, Feedback, Billing Amount, and Health Insurance Amount.</a:t>
            </a:r>
          </a:p>
          <a:p>
            <a:pPr lvl="0"/>
            <a:r>
              <a:rPr lang="en-IN" b="1" dirty="0"/>
              <a:t>Power BI Workflow:</a:t>
            </a:r>
            <a:endParaRPr lang="en-IN" dirty="0"/>
          </a:p>
          <a:p>
            <a:pPr lvl="0"/>
            <a:r>
              <a:rPr lang="en-IN" sz="1600" b="1" dirty="0"/>
              <a:t>Imported &amp; Structured:</a:t>
            </a:r>
            <a:r>
              <a:rPr lang="en-IN" sz="1600" dirty="0"/>
              <a:t> Loaded the healthcare dataset into Power BI.</a:t>
            </a:r>
          </a:p>
          <a:p>
            <a:pPr lvl="0"/>
            <a:r>
              <a:rPr lang="en-IN" sz="1600" b="1" dirty="0"/>
              <a:t>Aggregated:</a:t>
            </a:r>
            <a:r>
              <a:rPr lang="en-IN" sz="1600" dirty="0"/>
              <a:t> Used count, sum, and average based on the business question.</a:t>
            </a:r>
          </a:p>
          <a:p>
            <a:pPr lvl="0"/>
            <a:r>
              <a:rPr lang="en-IN" sz="1600" b="1" dirty="0"/>
              <a:t>Configured Slicers:</a:t>
            </a:r>
            <a:r>
              <a:rPr lang="en-IN" sz="1600" dirty="0"/>
              <a:t> Added interactive filters for </a:t>
            </a:r>
            <a:r>
              <a:rPr lang="en-IN" sz="1600" dirty="0" err="1"/>
              <a:t>Patient_ID</a:t>
            </a:r>
            <a:r>
              <a:rPr lang="en-IN" sz="1600" dirty="0"/>
              <a:t> and </a:t>
            </a:r>
            <a:r>
              <a:rPr lang="en-IN" sz="1600" dirty="0" err="1"/>
              <a:t>Admit_Date</a:t>
            </a:r>
            <a:r>
              <a:rPr lang="en-IN" sz="1600" dirty="0"/>
              <a:t>.</a:t>
            </a:r>
          </a:p>
          <a:p>
            <a:pPr lvl="0"/>
            <a:r>
              <a:rPr lang="en-IN" sz="1600" b="1" dirty="0"/>
              <a:t>Styled:</a:t>
            </a:r>
            <a:r>
              <a:rPr lang="en-IN" sz="1600" dirty="0"/>
              <a:t> Applied sorting, titles, formatting, and visual styling for readability.</a:t>
            </a:r>
          </a:p>
        </p:txBody>
      </p:sp>
      <p:pic>
        <p:nvPicPr>
          <p:cNvPr id="21" name="Picture Placeholder 20" descr="A person in a white coat with a stethoscope around her neck">
            <a:extLst>
              <a:ext uri="{FF2B5EF4-FFF2-40B4-BE49-F238E27FC236}">
                <a16:creationId xmlns:a16="http://schemas.microsoft.com/office/drawing/2014/main" id="{244AC564-6A07-A90A-B027-67CD2423BB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54" b="354"/>
          <a:stretch/>
        </p:blipFill>
        <p:spPr>
          <a:xfrm>
            <a:off x="5519056" y="650240"/>
            <a:ext cx="6236061" cy="5713918"/>
          </a:xfrm>
        </p:spPr>
      </p:pic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491A-0321-8188-C71E-7F33632C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1417321"/>
          </a:xfrm>
        </p:spPr>
        <p:txBody>
          <a:bodyPr/>
          <a:lstStyle/>
          <a:p>
            <a:r>
              <a:rPr lang="en-IN" b="1" dirty="0"/>
              <a:t>Dashboard KPI Layer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2B43E03-A1CE-79FD-A738-5401F4A6732C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20070409"/>
              </p:ext>
            </p:extLst>
          </p:nvPr>
        </p:nvGraphicFramePr>
        <p:xfrm>
          <a:off x="239486" y="2372999"/>
          <a:ext cx="4125684" cy="3855580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1375228">
                  <a:extLst>
                    <a:ext uri="{9D8B030D-6E8A-4147-A177-3AD203B41FA5}">
                      <a16:colId xmlns:a16="http://schemas.microsoft.com/office/drawing/2014/main" val="1861894890"/>
                    </a:ext>
                  </a:extLst>
                </a:gridCol>
                <a:gridCol w="1375228">
                  <a:extLst>
                    <a:ext uri="{9D8B030D-6E8A-4147-A177-3AD203B41FA5}">
                      <a16:colId xmlns:a16="http://schemas.microsoft.com/office/drawing/2014/main" val="1888904149"/>
                    </a:ext>
                  </a:extLst>
                </a:gridCol>
                <a:gridCol w="1375228">
                  <a:extLst>
                    <a:ext uri="{9D8B030D-6E8A-4147-A177-3AD203B41FA5}">
                      <a16:colId xmlns:a16="http://schemas.microsoft.com/office/drawing/2014/main" val="3748663095"/>
                    </a:ext>
                  </a:extLst>
                </a:gridCol>
              </a:tblGrid>
              <a:tr h="46716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KPI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58366" marR="77821" marT="48638" marB="4863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00" b="1">
                          <a:effectLst/>
                        </a:rPr>
                        <a:t>Calculation Logic</a:t>
                      </a:r>
                      <a:endParaRPr lang="en-IN" sz="1100" b="1">
                        <a:effectLst/>
                        <a:latin typeface="quote-cjk-patch"/>
                      </a:endParaRPr>
                    </a:p>
                  </a:txBody>
                  <a:tcPr marL="77821" marR="77821" marT="48638" marB="4863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Business Meaning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77821" marR="77821" marT="48638" marB="48638" anchor="ctr"/>
                </a:tc>
                <a:extLst>
                  <a:ext uri="{0D108BD9-81ED-4DB2-BD59-A6C34878D82A}">
                    <a16:rowId xmlns:a16="http://schemas.microsoft.com/office/drawing/2014/main" val="1416878592"/>
                  </a:ext>
                </a:extLst>
              </a:tr>
              <a:tr h="768984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Earliest Admission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58366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Minimum </a:t>
                      </a:r>
                      <a:r>
                        <a:rPr lang="en-IN" sz="1100" dirty="0" err="1">
                          <a:effectLst/>
                        </a:rPr>
                        <a:t>Admit_Date</a:t>
                      </a:r>
                      <a:endParaRPr lang="en-IN" sz="1100" b="0" dirty="0">
                        <a:effectLst/>
                        <a:latin typeface="quote-cjk-patch"/>
                      </a:endParaRPr>
                    </a:p>
                  </a:txBody>
                  <a:tcPr marL="77821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Shows the beginning of the selected admission period.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821" marR="58366" marT="48638" marB="48638" anchor="ctr"/>
                </a:tc>
                <a:extLst>
                  <a:ext uri="{0D108BD9-81ED-4DB2-BD59-A6C34878D82A}">
                    <a16:rowId xmlns:a16="http://schemas.microsoft.com/office/drawing/2014/main" val="2831679695"/>
                  </a:ext>
                </a:extLst>
              </a:tr>
              <a:tr h="768984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Latest Discharge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58366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Minimum Discharge_Date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821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Provides a discharge-date reference for the report.</a:t>
                      </a:r>
                      <a:endParaRPr lang="en-IN" sz="1100" b="0" dirty="0">
                        <a:effectLst/>
                        <a:latin typeface="quote-cjk-patch"/>
                      </a:endParaRPr>
                    </a:p>
                  </a:txBody>
                  <a:tcPr marL="77821" marR="58366" marT="48638" marB="48638" anchor="ctr"/>
                </a:tc>
                <a:extLst>
                  <a:ext uri="{0D108BD9-81ED-4DB2-BD59-A6C34878D82A}">
                    <a16:rowId xmlns:a16="http://schemas.microsoft.com/office/drawing/2014/main" val="1531805142"/>
                  </a:ext>
                </a:extLst>
              </a:tr>
              <a:tr h="768984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Follow-Up Scheduled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58366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Minimum Followup Date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821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Provides visibility into follow-up scheduling.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821" marR="58366" marT="48638" marB="48638" anchor="ctr"/>
                </a:tc>
                <a:extLst>
                  <a:ext uri="{0D108BD9-81ED-4DB2-BD59-A6C34878D82A}">
                    <a16:rowId xmlns:a16="http://schemas.microsoft.com/office/drawing/2014/main" val="2846843093"/>
                  </a:ext>
                </a:extLst>
              </a:tr>
              <a:tr h="1070805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Bill Amount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58366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Sum of Billing Amount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821" marR="77821" marT="48638" marB="486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Provides a consolidated billing value for the selected data.</a:t>
                      </a:r>
                      <a:endParaRPr lang="en-IN" sz="1100" b="0" dirty="0">
                        <a:effectLst/>
                        <a:latin typeface="quote-cjk-patch"/>
                      </a:endParaRPr>
                    </a:p>
                  </a:txBody>
                  <a:tcPr marL="77821" marR="58366" marT="48638" marB="48638" anchor="ctr"/>
                </a:tc>
                <a:extLst>
                  <a:ext uri="{0D108BD9-81ED-4DB2-BD59-A6C34878D82A}">
                    <a16:rowId xmlns:a16="http://schemas.microsoft.com/office/drawing/2014/main" val="6797473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4B67DDA-6635-5CB6-8868-2139DE6CD9D3}"/>
              </a:ext>
            </a:extLst>
          </p:cNvPr>
          <p:cNvSpPr txBox="1"/>
          <p:nvPr/>
        </p:nvSpPr>
        <p:spPr>
          <a:xfrm>
            <a:off x="141514" y="16880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Quick-Reference KPIs (Top Section):</a:t>
            </a:r>
            <a:endParaRPr lang="en-IN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FA9912-10AB-38C0-8C7E-F19DB65D1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169" y="586493"/>
            <a:ext cx="7587345" cy="56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6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859971"/>
          </a:xfrm>
          <a:noFill/>
        </p:spPr>
        <p:txBody>
          <a:bodyPr/>
          <a:lstStyle/>
          <a:p>
            <a:r>
              <a:rPr lang="en-IN" b="1" dirty="0"/>
              <a:t>Analytical Insights Enabled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26664CC-F0B7-D2E1-A321-E97944F52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7868"/>
            <a:ext cx="9144000" cy="2052320"/>
          </a:xfrm>
          <a:noFill/>
        </p:spPr>
        <p:txBody>
          <a:bodyPr anchor="t"/>
          <a:lstStyle/>
          <a:p>
            <a:pPr algn="l"/>
            <a:r>
              <a:rPr lang="en-IN" b="1" dirty="0"/>
              <a:t>The Dashboard Helps Answer:</a:t>
            </a:r>
            <a:endParaRPr lang="en-IN" dirty="0"/>
          </a:p>
          <a:p>
            <a:pPr lvl="0" algn="l"/>
            <a:r>
              <a:rPr lang="en-IN" dirty="0"/>
              <a:t>Which bed category has the highest patient volume?</a:t>
            </a:r>
          </a:p>
          <a:p>
            <a:pPr lvl="0" algn="l"/>
            <a:r>
              <a:rPr lang="en-IN" dirty="0"/>
              <a:t>Which diagnoses represent the largest patient volumes?</a:t>
            </a:r>
          </a:p>
          <a:p>
            <a:pPr lvl="0" algn="l"/>
            <a:r>
              <a:rPr lang="en-IN" dirty="0"/>
              <a:t>Which doctors handle higher patient volumes?</a:t>
            </a:r>
          </a:p>
          <a:p>
            <a:pPr lvl="0" algn="l"/>
            <a:r>
              <a:rPr lang="en-IN" dirty="0"/>
              <a:t>How does doctor-level average feedback compare?</a:t>
            </a:r>
          </a:p>
          <a:p>
            <a:pPr lvl="0" algn="l"/>
            <a:r>
              <a:rPr lang="en-IN" dirty="0"/>
              <a:t>Which doctors generate higher billing amounts and how do insurance amounts compare?</a:t>
            </a:r>
          </a:p>
          <a:p>
            <a:pPr lvl="0" algn="l"/>
            <a:r>
              <a:rPr lang="en-IN" dirty="0"/>
              <a:t>Which diagnostic tests have higher billed amounts?</a:t>
            </a:r>
          </a:p>
          <a:p>
            <a:pPr lvl="0" algn="l"/>
            <a:r>
              <a:rPr lang="en-IN" dirty="0"/>
              <a:t>How do health insurance amounts compare with billed amounts?</a:t>
            </a:r>
          </a:p>
          <a:p>
            <a:pPr lvl="0" algn="l"/>
            <a:r>
              <a:rPr lang="en-IN" dirty="0"/>
              <a:t>How does the analysis change when a specific patient or date period is selected?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702491"/>
          </a:xfrm>
        </p:spPr>
        <p:txBody>
          <a:bodyPr/>
          <a:lstStyle/>
          <a:p>
            <a:r>
              <a:rPr lang="en-IN" b="1" dirty="0"/>
              <a:t>Project Outcomes &amp; Tools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C69167C3-302B-24DE-9CF7-D85D5D5DD20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" y="1599533"/>
            <a:ext cx="3657600" cy="4757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Outcomes:</a:t>
            </a:r>
            <a:endParaRPr lang="en-IN" dirty="0"/>
          </a:p>
          <a:p>
            <a:pPr lvl="0"/>
            <a:r>
              <a:rPr lang="en-IN" dirty="0"/>
              <a:t>Created a complete single-page healthcare performance dashboard.</a:t>
            </a:r>
          </a:p>
          <a:p>
            <a:pPr lvl="0"/>
            <a:r>
              <a:rPr lang="en-IN" dirty="0"/>
              <a:t>Converted multiple healthcare fields into meaningful KPIs and visual analytics.</a:t>
            </a:r>
          </a:p>
          <a:p>
            <a:pPr lvl="0"/>
            <a:r>
              <a:rPr lang="en-IN" dirty="0"/>
              <a:t>Enabled patient and date-based filtering for focused analysis.</a:t>
            </a:r>
          </a:p>
          <a:p>
            <a:pPr lvl="0"/>
            <a:r>
              <a:rPr lang="en-IN" dirty="0"/>
              <a:t>Provided doctor-level financial and performance comparison.</a:t>
            </a:r>
          </a:p>
          <a:p>
            <a:pPr lvl="0"/>
            <a:r>
              <a:rPr lang="en-IN" dirty="0"/>
              <a:t>Improved readability of raw healthcare data through visual storytelling.</a:t>
            </a:r>
          </a:p>
          <a:p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C987B03-58AE-7E8A-A1C7-83569FBB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IN" sz="2400" b="1" dirty="0"/>
              <a:t>Tools &amp; Skills Demonstrated:</a:t>
            </a:r>
            <a:endParaRPr lang="en-IN" sz="2400" dirty="0"/>
          </a:p>
          <a:p>
            <a:pPr lvl="0"/>
            <a:r>
              <a:rPr lang="en-IN" sz="2400" dirty="0"/>
              <a:t>Microsoft Power BI</a:t>
            </a:r>
          </a:p>
          <a:p>
            <a:pPr lvl="0"/>
            <a:r>
              <a:rPr lang="en-IN" sz="2400" dirty="0"/>
              <a:t>Data Visualization &amp; Dashboard Design</a:t>
            </a:r>
          </a:p>
          <a:p>
            <a:pPr lvl="0"/>
            <a:r>
              <a:rPr lang="en-IN" sz="2400" dirty="0"/>
              <a:t>KPI Development</a:t>
            </a:r>
          </a:p>
          <a:p>
            <a:pPr lvl="0"/>
            <a:r>
              <a:rPr lang="en-IN" sz="2400" dirty="0"/>
              <a:t>Interactive Slicers &amp; Filtering</a:t>
            </a:r>
          </a:p>
          <a:p>
            <a:pPr lvl="0"/>
            <a:r>
              <a:rPr lang="en-IN" sz="2400" dirty="0"/>
              <a:t>Healthcare / Patient Analytics</a:t>
            </a:r>
          </a:p>
          <a:p>
            <a:pPr lvl="0"/>
            <a:r>
              <a:rPr lang="en-IN" sz="2400" dirty="0"/>
              <a:t>Financial &amp; Insurance Analysis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78092"/>
            <a:ext cx="3729789" cy="1169654"/>
          </a:xfrm>
        </p:spPr>
        <p:txBody>
          <a:bodyPr/>
          <a:lstStyle/>
          <a:p>
            <a:r>
              <a:rPr lang="en-IN" b="1" dirty="0"/>
              <a:t>Conclusion &amp; Future Scope</a:t>
            </a:r>
          </a:p>
        </p:txBody>
      </p:sp>
      <p:pic>
        <p:nvPicPr>
          <p:cNvPr id="16" name="Picture Placeholder 15" descr="A group of surgeons wearing surgical caps and masks">
            <a:extLst>
              <a:ext uri="{FF2B5EF4-FFF2-40B4-BE49-F238E27FC236}">
                <a16:creationId xmlns:a16="http://schemas.microsoft.com/office/drawing/2014/main" id="{6EFD6230-A50E-3A63-7B72-59A8449CAEE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35757" b="35757"/>
          <a:stretch/>
        </p:blipFill>
        <p:spPr/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05827" y="2878091"/>
            <a:ext cx="7418813" cy="25429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Conclusion:</a:t>
            </a:r>
            <a:endParaRPr lang="en-IN" dirty="0"/>
          </a:p>
          <a:p>
            <a:pPr lvl="0"/>
            <a:r>
              <a:rPr lang="en-IN" dirty="0"/>
              <a:t>This dashboard demonstrates how Power BI can convert healthcare data into a practical analytical solution.</a:t>
            </a:r>
          </a:p>
          <a:p>
            <a:pPr lvl="0"/>
            <a:r>
              <a:rPr lang="en-IN" dirty="0"/>
              <a:t>It provides a clear way to explore patient activity, clinical patterns, doctor performance, and financial information.</a:t>
            </a:r>
          </a:p>
          <a:p>
            <a:pPr lvl="0"/>
            <a:r>
              <a:rPr lang="en-IN" dirty="0"/>
              <a:t>The project reflects a business-oriented approach: understand the data, ask the right questions, and present results that support faster decision-making.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74B36-11DE-CFC9-0925-1E21B3828CDF}"/>
              </a:ext>
            </a:extLst>
          </p:cNvPr>
          <p:cNvSpPr txBox="1"/>
          <p:nvPr/>
        </p:nvSpPr>
        <p:spPr>
          <a:xfrm>
            <a:off x="369389" y="3831530"/>
            <a:ext cx="3936438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1" i="0" dirty="0">
                <a:solidFill>
                  <a:schemeClr val="tx1"/>
                </a:solidFill>
                <a:effectLst/>
                <a:latin typeface="+mn-lt"/>
              </a:rPr>
              <a:t>Future Enhancements:</a:t>
            </a:r>
            <a:endParaRPr lang="en-IN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+mn-lt"/>
              </a:rPr>
              <a:t>Add a dedicated Date table for advanced time-intelligence.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+mn-lt"/>
              </a:rPr>
              <a:t>Include admission-type, gender, age-group, and medication analysis.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+mn-lt"/>
              </a:rPr>
              <a:t>Add calculated measures like average length of stay and revenue per patient.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+mn-lt"/>
              </a:rPr>
              <a:t>Add conditional formatting for doctor performance benchmarks.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chemeClr val="tx1"/>
                </a:solidFill>
                <a:effectLst/>
                <a:latin typeface="+mn-lt"/>
              </a:rPr>
              <a:t>Add an executive summary page and detailed drill-through pages.</a:t>
            </a:r>
            <a:endParaRPr lang="en-IN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715DBBC-70C2-E94B-9B03-12910F0B5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PROJECT</a:t>
            </a:r>
          </a:p>
        </p:txBody>
      </p:sp>
      <p:pic>
        <p:nvPicPr>
          <p:cNvPr id="21" name="Picture Placeholder 20" descr="Two people smiling while holding coffee">
            <a:extLst>
              <a:ext uri="{FF2B5EF4-FFF2-40B4-BE49-F238E27FC236}">
                <a16:creationId xmlns:a16="http://schemas.microsoft.com/office/drawing/2014/main" id="{75E7485A-FBCC-4222-2274-2B2A0804BC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8" r="38"/>
          <a:stretch/>
        </p:blipFill>
        <p:spPr/>
      </p:pic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3AEB1C4-FB60-9B8E-5A02-0BCD2B6E5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704772"/>
            <a:ext cx="5628639" cy="7910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B25D-9615-9332-C32E-4F458417E1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Anurag Kumar Poddar</a:t>
            </a:r>
          </a:p>
          <a:p>
            <a:r>
              <a:rPr lang="en-US" dirty="0"/>
              <a:t>Data Analyst</a:t>
            </a:r>
          </a:p>
          <a:p>
            <a:r>
              <a:rPr lang="en-US" dirty="0"/>
              <a:t>+919748748405</a:t>
            </a:r>
          </a:p>
          <a:p>
            <a:r>
              <a:rPr lang="en-US" dirty="0"/>
              <a:t>anuragkumarpoddar@gmail.com</a:t>
            </a:r>
          </a:p>
        </p:txBody>
      </p:sp>
      <p:pic>
        <p:nvPicPr>
          <p:cNvPr id="23" name="Picture Placeholder 22" descr="A group of people giving each other a high five">
            <a:extLst>
              <a:ext uri="{FF2B5EF4-FFF2-40B4-BE49-F238E27FC236}">
                <a16:creationId xmlns:a16="http://schemas.microsoft.com/office/drawing/2014/main" id="{D92A2E6E-E7AB-92FB-0E6F-133483021C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6095" r="6095"/>
          <a:stretch/>
        </p:blipFill>
        <p:spPr/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 design</Template>
  <TotalTime>29</TotalTime>
  <Words>797</Words>
  <Application>Microsoft Office PowerPoint</Application>
  <PresentationFormat>Widescreen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quote-cjk-patch</vt:lpstr>
      <vt:lpstr>Wingdings 2</vt:lpstr>
      <vt:lpstr>DividendVTI</vt:lpstr>
      <vt:lpstr>Healthcare Performance Dashboard Patient, Clinical, Doctor Performance &amp; Financial Analytics    Presented by: Anurag Kumar Poddar Role: Data Analyst / Business Analyst Project Type: Microsoft Power BI Portfolio Project</vt:lpstr>
      <vt:lpstr>Project Overview</vt:lpstr>
      <vt:lpstr>Business Problem &amp; Purpose </vt:lpstr>
      <vt:lpstr>Project Objectives Main Goals:  -   Build an interactive healthcare analytics dashboard using Power BI. -   Transform patient-level data into clear KPIs and business-friendly visualizations. -   Provide visibility into patient activity and important dates. -   Analyze diagnosis and bed-category distribution. -   Evaluate doctor-level operational, feedback, and financial performance. -   Compare billing and health insurance amounts by diagnostic test. -   Create a portfolio-quality dashboard demonstrating practical Power BI skills. </vt:lpstr>
      <vt:lpstr>Data &amp; Preparation Approach </vt:lpstr>
      <vt:lpstr>Dashboard KPI Layer </vt:lpstr>
      <vt:lpstr>Analytical Insights Enabled</vt:lpstr>
      <vt:lpstr>Project Outcomes &amp; Tools</vt:lpstr>
      <vt:lpstr>Conclusion &amp; Future Scope</vt:lpstr>
      <vt:lpstr>END OF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PODDAR</dc:creator>
  <cp:lastModifiedBy>ANURAG PODDAR</cp:lastModifiedBy>
  <cp:revision>1</cp:revision>
  <dcterms:created xsi:type="dcterms:W3CDTF">2026-10-08T10:17:19Z</dcterms:created>
  <dcterms:modified xsi:type="dcterms:W3CDTF">2026-10-08T10:46:20Z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